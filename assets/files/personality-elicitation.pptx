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367" r:id="rId3"/>
    <p:sldId id="355" r:id="rId4"/>
    <p:sldId id="368" r:id="rId5"/>
    <p:sldId id="361" r:id="rId6"/>
    <p:sldId id="362" r:id="rId7"/>
    <p:sldId id="370" r:id="rId8"/>
    <p:sldId id="372" r:id="rId9"/>
    <p:sldId id="371" r:id="rId10"/>
    <p:sldId id="357" r:id="rId11"/>
    <p:sldId id="27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90" autoAdjust="0"/>
    <p:restoredTop sz="94694"/>
  </p:normalViewPr>
  <p:slideViewPr>
    <p:cSldViewPr snapToGrid="0" showGuides="1">
      <p:cViewPr varScale="1">
        <p:scale>
          <a:sx n="115" d="100"/>
          <a:sy n="115" d="100"/>
        </p:scale>
        <p:origin x="44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2B933-8BA4-4055-9449-CC4BC31F3F0C}" type="datetimeFigureOut">
              <a:rPr lang="zh-CN" altLang="en-US" smtClean="0"/>
              <a:t>2026-04-09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86925-B93D-4AE0-B4A1-2E9C4871C7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B250E-6287-B7FA-5317-1223A914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65629C-CA39-CF66-A0AD-C86D51039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CB09AB-8E4D-4BB8-27AE-B1A132B1C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5962D-1C41-154E-A974-0237F9E8F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506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63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35732-238F-5DCB-16B5-F321F1D7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FE05AB-62E5-0EE6-9A5F-38DDA0066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ABF3CD-3959-B6E0-9A0B-8A1D34455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2FFE81-DA76-2FD4-D03B-32CD3364A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190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F455-07F9-EE07-402D-6E03E65B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0D59C8-2F48-DE4F-1680-72D6BF5BE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F1FA27-8478-AD4C-E5DF-C82454EFF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D41DE4-2FFA-75E4-9D47-7FFDEDA6C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91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14CF-2869-FF25-7139-94371A54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1C3F17-6D49-FB87-2E5E-CDB953B2E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2E10A3-707D-3FDB-CE23-2DC8009D2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70FD1E-0CDB-7098-2CF1-7AE5C82F4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40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B407-1062-6DCB-916B-4AE7BB1C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D41F7-80F3-0428-454F-93C7009EC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32F3E2-7493-D757-44E7-ACBF10D0A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C298D-0834-DEDB-B84F-2D8D23937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081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1C950-7385-BF0F-F385-59761A7F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E98F44-0341-7633-8871-361C85052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FA6424-3CFC-F11D-53DE-C99BA30E3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74643C-D5DD-2013-A447-2ACC1FA0B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201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5138-B245-F735-C81D-E366D4D5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67586A-90B3-B6DB-9665-622C87453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FFBD5-C0E7-AA06-0F74-082354824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158F2-1590-61F9-EB75-2C4AF9173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829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3A2A-5E69-BA4F-9824-316E1F42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D07BF-278D-9966-2B6A-5EBCA5773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9EFC28-3101-7BBC-B7BB-E4D0EFDF4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83658-A404-3A20-D5B2-77D603896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86925-B93D-4AE0-B4A1-2E9C4871C7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12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73FE5-8DD6-40E8-83C5-EF8242A7BE8D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0955-40F1-410C-998C-C4BC4CBAE7F8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81B3-FD20-4040-B3D1-19C40B377F44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5E9-EABF-4600-B1AD-F67B8387905A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0785-7765-4237-9DEE-88310AC807E0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A79D-2D7A-4FF4-B4C9-E2F6DF9D1219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184E-8E37-4D33-9B37-3D788BF87241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F282-95A8-4F1F-85EB-7F3636D445D0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37854-0DA4-4ED6-B0AC-A7251A51DD22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9705-A77E-4521-BA4F-138463D5B654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8D8C-4A10-401F-BC5C-0419C201D1E8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07EF2-08D0-45AE-BA87-7122C5575A8E}" type="datetime1">
              <a:rPr kumimoji="1" lang="zh-CN" altLang="en-US" smtClean="0"/>
              <a:t>2026-04-09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1C5E-C9F8-B941-B214-4143A60361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255677" y="2876769"/>
            <a:ext cx="95325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Elicitation</a:t>
            </a:r>
          </a:p>
        </p:txBody>
      </p:sp>
      <p:sp>
        <p:nvSpPr>
          <p:cNvPr id="2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6EFC-D6A8-5EFF-C7A8-6784FB1E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A4E33-92AB-4FBF-91FD-ACC90558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6A4E3A-B499-A12E-5ACB-8A3208EF7D48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1EF7F5-465B-07EE-91EE-8A8377AF0DA8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Background &amp; Motivation</a:t>
            </a:r>
            <a:endParaRPr lang="en-US" altLang="zh-C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59350AF-0CFB-B5C4-BF8A-C748C27DB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59" y="1232440"/>
            <a:ext cx="11173378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Background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have been extensively applied.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indicates that it is feasible to infer user personality traits through User-LLM interactions.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capability serves as a prerequisite for personalized services while simultaneously presenting a critical challenge for privacy preservation.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0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Trait Activation Theory (TAT):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behavior = f (trait * situation)</a:t>
            </a:r>
            <a:r>
              <a:rPr lang="zh-CN" altLang="zh-CN" sz="20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personality analysis methods typically rely on rich user-generated content, such as essays and social media posts.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contrast, interactions with LLMs are often characterized by short, task-oriented exchanges, where user responses contain sparse personality-related cues.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两个方向：数据和识别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数据：现有的方向用的数据其实没有包含很多性格信息，如果没有相对应的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，对应的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根本就不会激发），这个数据里面也就没有对应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的信息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识别：现有的识别方法都是</a:t>
            </a:r>
            <a:r>
              <a:rPr kumimoji="0" lang="en-US" altLang="zh-CN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liwc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或者分析词等等，没有理解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（一次性输出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ocean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，大概率是依靠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ocean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之间的相关性才有一定的准确度），我们的方法是先分析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，然后再推断到底激发了什么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，才能知道应该推断哪个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97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D2E80-8B37-0E16-A0E4-7CDCC58A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EB4D23-5A17-D6AB-6B09-4C2A33E3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A95B57-84D9-7C82-3336-45D16A031B89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983201-9CA3-8E50-1ACD-63975440534D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Problem</a:t>
            </a:r>
          </a:p>
        </p:txBody>
      </p:sp>
      <p:sp>
        <p:nvSpPr>
          <p:cNvPr id="20" name="Google Shape;126;p16">
            <a:extLst>
              <a:ext uri="{FF2B5EF4-FFF2-40B4-BE49-F238E27FC236}">
                <a16:creationId xmlns:a16="http://schemas.microsoft.com/office/drawing/2014/main" id="{DA033A56-531E-38A6-982D-1B4892B52E8B}"/>
              </a:ext>
            </a:extLst>
          </p:cNvPr>
          <p:cNvSpPr txBox="1"/>
          <p:nvPr/>
        </p:nvSpPr>
        <p:spPr>
          <a:xfrm>
            <a:off x="1478438" y="3296234"/>
            <a:ext cx="1228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</a:t>
            </a:r>
            <a:endParaRPr sz="2400" dirty="0"/>
          </a:p>
        </p:txBody>
      </p:sp>
      <p:pic>
        <p:nvPicPr>
          <p:cNvPr id="22" name="Google Shape;128;p16" descr="image.png">
            <a:extLst>
              <a:ext uri="{FF2B5EF4-FFF2-40B4-BE49-F238E27FC236}">
                <a16:creationId xmlns:a16="http://schemas.microsoft.com/office/drawing/2014/main" id="{490BCCFD-D1D0-F043-DE42-30C3DF7CBC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4746" y="3896309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30;p16">
            <a:extLst>
              <a:ext uri="{FF2B5EF4-FFF2-40B4-BE49-F238E27FC236}">
                <a16:creationId xmlns:a16="http://schemas.microsoft.com/office/drawing/2014/main" id="{CB7BA68A-0C6C-A9BC-D307-9C8933A093BC}"/>
              </a:ext>
            </a:extLst>
          </p:cNvPr>
          <p:cNvSpPr txBox="1"/>
          <p:nvPr/>
        </p:nvSpPr>
        <p:spPr>
          <a:xfrm>
            <a:off x="5385572" y="3296234"/>
            <a:ext cx="1481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Method</a:t>
            </a:r>
            <a:endParaRPr sz="2400" dirty="0"/>
          </a:p>
        </p:txBody>
      </p:sp>
      <p:sp>
        <p:nvSpPr>
          <p:cNvPr id="26" name="Google Shape;131;p16">
            <a:extLst>
              <a:ext uri="{FF2B5EF4-FFF2-40B4-BE49-F238E27FC236}">
                <a16:creationId xmlns:a16="http://schemas.microsoft.com/office/drawing/2014/main" id="{45741963-2AF5-454D-AEB4-CBA41F464AA0}"/>
              </a:ext>
            </a:extLst>
          </p:cNvPr>
          <p:cNvSpPr txBox="1"/>
          <p:nvPr/>
        </p:nvSpPr>
        <p:spPr>
          <a:xfrm>
            <a:off x="3922146" y="3867733"/>
            <a:ext cx="442199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Adaptive, closed-loop framework.</a:t>
            </a:r>
            <a:endParaRPr sz="2400" dirty="0"/>
          </a:p>
        </p:txBody>
      </p:sp>
      <p:pic>
        <p:nvPicPr>
          <p:cNvPr id="28" name="Google Shape;132;p16" descr="image.png">
            <a:extLst>
              <a:ext uri="{FF2B5EF4-FFF2-40B4-BE49-F238E27FC236}">
                <a16:creationId xmlns:a16="http://schemas.microsoft.com/office/drawing/2014/main" id="{E333C75F-1FDC-E6AE-08A2-9F950817B9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7597" y="3896309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34;p16">
            <a:extLst>
              <a:ext uri="{FF2B5EF4-FFF2-40B4-BE49-F238E27FC236}">
                <a16:creationId xmlns:a16="http://schemas.microsoft.com/office/drawing/2014/main" id="{B49C8D1D-0865-E961-D609-475DA79B4660}"/>
              </a:ext>
            </a:extLst>
          </p:cNvPr>
          <p:cNvSpPr txBox="1"/>
          <p:nvPr/>
        </p:nvSpPr>
        <p:spPr>
          <a:xfrm>
            <a:off x="9116246" y="3296234"/>
            <a:ext cx="11204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</a:t>
            </a:r>
            <a:endParaRPr sz="2400" dirty="0"/>
          </a:p>
        </p:txBody>
      </p:sp>
      <p:sp>
        <p:nvSpPr>
          <p:cNvPr id="34" name="Google Shape;135;p16">
            <a:extLst>
              <a:ext uri="{FF2B5EF4-FFF2-40B4-BE49-F238E27FC236}">
                <a16:creationId xmlns:a16="http://schemas.microsoft.com/office/drawing/2014/main" id="{EA1DD27F-356A-995D-47E6-2CF5311501CD}"/>
              </a:ext>
            </a:extLst>
          </p:cNvPr>
          <p:cNvSpPr txBox="1"/>
          <p:nvPr/>
        </p:nvSpPr>
        <p:spPr>
          <a:xfrm>
            <a:off x="9116246" y="3873484"/>
            <a:ext cx="20290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zh-CN" sz="24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Big 5</a:t>
            </a:r>
            <a:endParaRPr sz="2400" dirty="0">
              <a:solidFill>
                <a:srgbClr val="4B5563"/>
              </a:solidFill>
              <a:latin typeface="Inter"/>
              <a:ea typeface="Inter"/>
            </a:endParaRPr>
          </a:p>
        </p:txBody>
      </p:sp>
      <p:sp>
        <p:nvSpPr>
          <p:cNvPr id="36" name="Google Shape;131;p16">
            <a:extLst>
              <a:ext uri="{FF2B5EF4-FFF2-40B4-BE49-F238E27FC236}">
                <a16:creationId xmlns:a16="http://schemas.microsoft.com/office/drawing/2014/main" id="{5310BDE9-C00B-50CB-B887-AAF33190A3E1}"/>
              </a:ext>
            </a:extLst>
          </p:cNvPr>
          <p:cNvSpPr txBox="1"/>
          <p:nvPr/>
        </p:nvSpPr>
        <p:spPr>
          <a:xfrm>
            <a:off x="548559" y="3890483"/>
            <a:ext cx="31961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zh-CN"/>
            </a:defPPr>
            <a:lvl1pPr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altLang="zh-CN" dirty="0"/>
              <a:t>Human-LLM </a:t>
            </a:r>
            <a:r>
              <a:rPr lang="en-US" altLang="zh-CN" dirty="0">
                <a:sym typeface="Inter"/>
              </a:rPr>
              <a:t>Interaction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B62DAC-83CA-5460-210C-3844F5254CA3}"/>
              </a:ext>
            </a:extLst>
          </p:cNvPr>
          <p:cNvSpPr txBox="1"/>
          <p:nvPr/>
        </p:nvSpPr>
        <p:spPr>
          <a:xfrm>
            <a:off x="948906" y="1456274"/>
            <a:ext cx="9650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actively elicit latent personality traits within sparse, task-oriented Human-LLM interactions to achieve accurate profiling without compromising user experience?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19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F9D5-597A-5233-7818-1D49F998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EBBEC5-0389-AB2F-AF10-5C4BB6B6B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32" y="5011631"/>
            <a:ext cx="2929694" cy="324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72415E7-7992-C273-CFD0-BC0E9EB4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9B78DD-536D-9FB2-39EB-D038EC5D889A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F99BC9-4BEB-AB15-963F-16BD44ED1573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Related work</a:t>
            </a:r>
            <a:endParaRPr lang="en-US" altLang="zh-C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9BD6A-202D-F5B9-DA37-5E7EDC451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59" y="1032052"/>
            <a:ext cx="11643440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1. Text-based Personality Recognition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Approaches: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Statistical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LIWC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Deep Learning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LLM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Gaps: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Passive Assumption: Assumes user text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essays and social media posts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naturally contains sufficient traits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information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.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Human-LLM interactions are predominantly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task-oriented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consequently, they lack sufficient personality-relevant information.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Data Scarcity: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notable scarcity of human-machine dialogue datasets annotated with personality labels.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Psychological Foundations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Trait Activation Theory (TAT):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Formula: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Concept: Traits are latent potentials activated only by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specific Situational Cues.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Nudging Theory:</a:t>
            </a:r>
            <a:endParaRPr lang="en-US" altLang="zh-CN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Concept: Subtle "choice architecture" changes to guide behavior without restriction (Thaler &amp; Sunstein).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53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CCF5-0F1A-37A2-195B-365CE7490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6D7AE95-2151-4D4E-6C76-442E28F2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7120A1-E266-5566-5135-87DC3DF61942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440A29-AE36-E601-617C-F3C0C128EC84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Intuition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24CEB9-F25A-19AD-CD37-8A454518C194}"/>
              </a:ext>
            </a:extLst>
          </p:cNvPr>
          <p:cNvSpPr txBox="1"/>
          <p:nvPr/>
        </p:nvSpPr>
        <p:spPr>
          <a:xfrm>
            <a:off x="1268083" y="2690336"/>
            <a:ext cx="96558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 on Trait Activation Theory, personality traits are most readily manifested in response to specific situational stimuli. 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established validity of psychometric inventories like the IPIP-NEO, we hypothesize that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these static items into dynamic conversational strategies can effectively elicit user personality traits.</a:t>
            </a:r>
          </a:p>
        </p:txBody>
      </p:sp>
    </p:spTree>
    <p:extLst>
      <p:ext uri="{BB962C8B-B14F-4D97-AF65-F5344CB8AC3E}">
        <p14:creationId xmlns:p14="http://schemas.microsoft.com/office/powerpoint/2010/main" val="219905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0B3D-6FE8-86B7-F5BF-CFF49C88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0A608E9-C694-4A6F-DAA5-250D15E3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02FF37-1595-6259-F629-0AF2038C5606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C13869-7A94-EBC6-EB1A-C1E6E629918B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Challenge &amp;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223CAC4-EF1C-951A-C4A9-CF9D36449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1" y="2166118"/>
            <a:ext cx="1048397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Challenge 1: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specific dialogue content be mapped to abstract personality traits within constrained task-oriented scenarios?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Challenge 2: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can personality cues be elicited while minimizing disruption to user experience and natural conversational flow?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E31038-7465-2535-CE97-E16196DB2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1" y="4214924"/>
            <a:ext cx="1048397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Solution 1: </a:t>
            </a:r>
            <a:r>
              <a:rPr lang="zh-CN" altLang="zh-CN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Leveraging Trait Activation Theory to align dialogue contexts with target traits.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Solution 2: </a:t>
            </a:r>
            <a:r>
              <a:rPr lang="zh-CN" altLang="zh-CN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Applying Nudging Theory to seamlessly embed IPIP scenarios into conversational strategies.</a:t>
            </a:r>
          </a:p>
        </p:txBody>
      </p:sp>
    </p:spTree>
    <p:extLst>
      <p:ext uri="{BB962C8B-B14F-4D97-AF65-F5344CB8AC3E}">
        <p14:creationId xmlns:p14="http://schemas.microsoft.com/office/powerpoint/2010/main" val="293569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618C-9A00-E9BC-C388-ABEAB264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92ECA0F-5D16-FB69-3719-0B278642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87EB2D-E3D8-670F-FD89-098E0D8F4FC9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4C7B26-6C64-6BE9-30F6-4852E34AAF57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5714DF-C3E1-4EBE-4932-B5047A857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" y="1632184"/>
            <a:ext cx="10507980" cy="441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Study 1: LLM-Based Simulation (Controlled &amp; Scalable)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Multi-Agent Architecture: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User Agent: Simulates diverse users covering all Big Five trait combinations.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Target Agent (Assistant): 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M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ultiple LLMs (e.g., Llama 3, GPT-</a:t>
            </a:r>
            <a:r>
              <a:rPr lang="en-US" altLang="zh-CN" sz="16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...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to verify robustness.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Analyst Agent: SOTA LLM (GPT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5.2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Protocol: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10-Turn Constraint: Measuring elicitation efficiency within short interactions.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Ground Truth: Pre-configured personality profiles of the User Agent.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2: Human-Subject Study (Ecological Validity)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Participants: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Pilot study with N 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&gt;=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20 participants to validate real-world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Procedure (Three-Step Pipeline):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Pre-Assessment: Participants complete the IPIP-NEO Questionnaire to establish Ground Truth (P_{true}).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Interaction: Participants engage in dialogues.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Comparison: Calculating the correlation between prediction (P_{pred}) and Ground Truth (P_{true}).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43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A0C3-D394-084C-F283-8301DD384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D2545E-8E62-A6B1-4624-902736D2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70932B-C67A-8566-3993-FAD048235E15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3901A5-2DB7-2ADA-5347-EBE53EED61AB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Methodology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D5DA9F-9E56-A592-01FF-17A53F57637A}"/>
              </a:ext>
            </a:extLst>
          </p:cNvPr>
          <p:cNvSpPr txBox="1"/>
          <p:nvPr/>
        </p:nvSpPr>
        <p:spPr>
          <a:xfrm>
            <a:off x="152401" y="1953988"/>
            <a:ext cx="18288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Prompt at the current turn </a:t>
            </a:r>
            <a:r>
              <a:rPr lang="zh-CN" altLang="zh-CN" sz="12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History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2C99A1-67C9-5760-548D-6569151C0C39}"/>
              </a:ext>
            </a:extLst>
          </p:cNvPr>
          <p:cNvSpPr txBox="1"/>
          <p:nvPr/>
        </p:nvSpPr>
        <p:spPr>
          <a:xfrm>
            <a:off x="2278380" y="1702528"/>
            <a:ext cx="2331719" cy="1702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Situation DIAMONDS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Duty, Intellect, Adversity, Mating, Positivity, Negativity, Deception, Sociality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AB8E0B-1412-F0D8-32E3-214A7CE329D4}"/>
              </a:ext>
            </a:extLst>
          </p:cNvPr>
          <p:cNvSpPr txBox="1"/>
          <p:nvPr/>
        </p:nvSpPr>
        <p:spPr>
          <a:xfrm>
            <a:off x="4800601" y="2136867"/>
            <a:ext cx="21336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Big 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Context-activatable traits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00EC99-AC69-8956-DD84-90461EB539BB}"/>
              </a:ext>
            </a:extLst>
          </p:cNvPr>
          <p:cNvSpPr txBox="1"/>
          <p:nvPr/>
        </p:nvSpPr>
        <p:spPr>
          <a:xfrm>
            <a:off x="7200900" y="2045427"/>
            <a:ext cx="1409701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IPIP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Trait-Relevant Scenarios/Items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389DCA-56DF-D419-25AD-4170CA16DA41}"/>
              </a:ext>
            </a:extLst>
          </p:cNvPr>
          <p:cNvSpPr txBox="1"/>
          <p:nvPr/>
        </p:nvSpPr>
        <p:spPr>
          <a:xfrm>
            <a:off x="9320959" y="2274026"/>
            <a:ext cx="2602964" cy="5678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LLM Response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FD99A8-D3F4-F351-9336-762D36BBF4D1}"/>
              </a:ext>
            </a:extLst>
          </p:cNvPr>
          <p:cNvSpPr txBox="1"/>
          <p:nvPr/>
        </p:nvSpPr>
        <p:spPr>
          <a:xfrm>
            <a:off x="2438401" y="3782788"/>
            <a:ext cx="1478279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User profile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(H/L)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(H/L)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CD13F1-BCC4-B6AF-1ED2-987070A4FF3A}"/>
              </a:ext>
            </a:extLst>
          </p:cNvPr>
          <p:cNvSpPr txBox="1"/>
          <p:nvPr/>
        </p:nvSpPr>
        <p:spPr>
          <a:xfrm>
            <a:off x="4274821" y="3508468"/>
            <a:ext cx="2080259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Nuding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Confront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Influence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Deceive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BD7A2F2-6F40-E521-DA96-46A4509D0BA2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1981201" y="2553530"/>
            <a:ext cx="297179" cy="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CE4D23B-F181-104A-C4A0-180811757E6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4610099" y="2552366"/>
            <a:ext cx="190502" cy="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054C4BF-9B09-8880-1BDB-19C56F3B3BC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934201" y="2552366"/>
            <a:ext cx="266699" cy="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02115E9-7469-DDC0-C325-938447FC2C9E}"/>
              </a:ext>
            </a:extLst>
          </p:cNvPr>
          <p:cNvCxnSpPr>
            <a:cxnSpLocks/>
            <a:stCxn id="12" idx="3"/>
            <a:endCxn id="26" idx="2"/>
          </p:cNvCxnSpPr>
          <p:nvPr/>
        </p:nvCxnSpPr>
        <p:spPr>
          <a:xfrm>
            <a:off x="8610601" y="2553259"/>
            <a:ext cx="211015" cy="6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E63FA69-3AFC-44EA-A45E-9B7C0DAD7D99}"/>
              </a:ext>
            </a:extLst>
          </p:cNvPr>
          <p:cNvGrpSpPr/>
          <p:nvPr/>
        </p:nvGrpSpPr>
        <p:grpSpPr>
          <a:xfrm>
            <a:off x="8821616" y="2436631"/>
            <a:ext cx="272855" cy="246705"/>
            <a:chOff x="8610600" y="4876800"/>
            <a:chExt cx="624840" cy="579114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8C64C73-B439-0FB6-B187-B31E9845B5EB}"/>
                </a:ext>
              </a:extLst>
            </p:cNvPr>
            <p:cNvSpPr/>
            <p:nvPr/>
          </p:nvSpPr>
          <p:spPr>
            <a:xfrm>
              <a:off x="8610600" y="4876800"/>
              <a:ext cx="624840" cy="57911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1A60172-9D18-D95F-BFF9-F0F20876632C}"/>
                </a:ext>
              </a:extLst>
            </p:cNvPr>
            <p:cNvCxnSpPr>
              <a:stCxn id="26" idx="7"/>
              <a:endCxn id="26" idx="3"/>
            </p:cNvCxnSpPr>
            <p:nvPr/>
          </p:nvCxnSpPr>
          <p:spPr>
            <a:xfrm flipH="1">
              <a:off x="8702106" y="4961609"/>
              <a:ext cx="441828" cy="40949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0257208-37FB-BBCD-83CC-D0586DCEF271}"/>
                </a:ext>
              </a:extLst>
            </p:cNvPr>
            <p:cNvCxnSpPr>
              <a:cxnSpLocks/>
              <a:stCxn id="26" idx="5"/>
              <a:endCxn id="26" idx="1"/>
            </p:cNvCxnSpPr>
            <p:nvPr/>
          </p:nvCxnSpPr>
          <p:spPr>
            <a:xfrm flipH="1" flipV="1">
              <a:off x="8702106" y="4961609"/>
              <a:ext cx="441828" cy="40949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AB0E9DCB-AB57-2D9F-091A-AACA1ABAFD41}"/>
              </a:ext>
            </a:extLst>
          </p:cNvPr>
          <p:cNvCxnSpPr>
            <a:stCxn id="15" idx="3"/>
            <a:endCxn id="26" idx="4"/>
          </p:cNvCxnSpPr>
          <p:nvPr/>
        </p:nvCxnSpPr>
        <p:spPr>
          <a:xfrm flipV="1">
            <a:off x="6355080" y="2683336"/>
            <a:ext cx="2602964" cy="16099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A93A5D4-D638-4311-FA31-388FB84B9CCB}"/>
              </a:ext>
            </a:extLst>
          </p:cNvPr>
          <p:cNvCxnSpPr>
            <a:cxnSpLocks/>
            <a:stCxn id="26" idx="6"/>
            <a:endCxn id="13" idx="1"/>
          </p:cNvCxnSpPr>
          <p:nvPr/>
        </p:nvCxnSpPr>
        <p:spPr>
          <a:xfrm flipV="1">
            <a:off x="9094471" y="2557950"/>
            <a:ext cx="226488" cy="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4F2D430-5263-57E9-40CB-B80CF369F9E8}"/>
              </a:ext>
            </a:extLst>
          </p:cNvPr>
          <p:cNvSpPr txBox="1"/>
          <p:nvPr/>
        </p:nvSpPr>
        <p:spPr>
          <a:xfrm>
            <a:off x="9460963" y="3162442"/>
            <a:ext cx="2331719" cy="5678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Reaction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E84FA97-F280-6837-2CC0-B86A610B052B}"/>
              </a:ext>
            </a:extLst>
          </p:cNvPr>
          <p:cNvSpPr txBox="1"/>
          <p:nvPr/>
        </p:nvSpPr>
        <p:spPr>
          <a:xfrm>
            <a:off x="9270462" y="4194238"/>
            <a:ext cx="2743200" cy="5678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User Personality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2008DB32-8EA5-CDA4-70AD-A909145EA75C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1981201" y="2554153"/>
            <a:ext cx="457200" cy="17364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52AF457-B017-D1D5-B103-ED0C0C7973F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3916680" y="4290620"/>
            <a:ext cx="358141" cy="2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A6B4D45-038F-2041-1CFC-301F8E8BC853}"/>
              </a:ext>
            </a:extLst>
          </p:cNvPr>
          <p:cNvSpPr/>
          <p:nvPr/>
        </p:nvSpPr>
        <p:spPr>
          <a:xfrm>
            <a:off x="2133600" y="1508760"/>
            <a:ext cx="7094220" cy="3643597"/>
          </a:xfrm>
          <a:prstGeom prst="roundRect">
            <a:avLst>
              <a:gd name="adj" fmla="val 3701"/>
            </a:avLst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A4629C4-FB69-8502-DD03-2B589AC53963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10622441" y="2841874"/>
            <a:ext cx="4382" cy="32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D32B9CE9-3721-7807-2F79-954A521214AF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626823" y="3730290"/>
            <a:ext cx="15239" cy="46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33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A5C39-4122-962E-C7C3-CAEF3C1B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89197A5-E6D2-091A-B392-171A60F3A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39318" y="-801567"/>
            <a:ext cx="6584948" cy="864401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7FA51E-0707-6AB3-FE5A-3C7B197C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837D53-BA08-566D-21FA-EBFB18DC3991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D3E60F-284E-79F5-6A9D-E6DA8711B224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71933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91AE-AF2F-AA33-A4A5-1EE9FDC4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D598FC-D044-C276-387E-B9469DAA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1C5E-C9F8-B941-B214-4143A603618D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4385B-0322-EB52-9C37-A130208CDF0D}"/>
              </a:ext>
            </a:extLst>
          </p:cNvPr>
          <p:cNvSpPr/>
          <p:nvPr/>
        </p:nvSpPr>
        <p:spPr>
          <a:xfrm>
            <a:off x="1" y="437614"/>
            <a:ext cx="371628" cy="472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CED769-DD2C-E600-3C82-A2390006124E}"/>
              </a:ext>
            </a:extLst>
          </p:cNvPr>
          <p:cNvSpPr txBox="1"/>
          <p:nvPr/>
        </p:nvSpPr>
        <p:spPr>
          <a:xfrm>
            <a:off x="548559" y="448171"/>
            <a:ext cx="1155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Inter"/>
              </a:rPr>
              <a:t>Personality Elicitation via LLM Communication Strategies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CB24D-3DFF-7F03-F247-9BE7439F49B4}"/>
              </a:ext>
            </a:extLst>
          </p:cNvPr>
          <p:cNvSpPr txBox="1"/>
          <p:nvPr/>
        </p:nvSpPr>
        <p:spPr>
          <a:xfrm>
            <a:off x="716280" y="3964900"/>
            <a:ext cx="10515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b="1" dirty="0"/>
              <a:t>Findings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Overall Improvement:</a:t>
            </a:r>
            <a:r>
              <a:rPr lang="en-US" altLang="zh-CN" sz="1400" dirty="0"/>
              <a:t> Active elicitation strategies yielded superior overall performance compared to the baseline.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Specific Regression:</a:t>
            </a:r>
            <a:r>
              <a:rPr lang="en-US" altLang="zh-CN" sz="1400" dirty="0"/>
              <a:t> However, a notable decline was observed specifically in the </a:t>
            </a:r>
            <a:r>
              <a:rPr lang="en-US" altLang="zh-CN" sz="1400" b="1" dirty="0"/>
              <a:t>Openness</a:t>
            </a:r>
            <a:r>
              <a:rPr lang="en-US" altLang="zh-CN" sz="1400" dirty="0"/>
              <a:t> dimension.</a:t>
            </a:r>
          </a:p>
          <a:p>
            <a:r>
              <a:rPr lang="en-US" altLang="zh-CN" sz="1400" b="1" dirty="0"/>
              <a:t>Conclusion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Efficacy:</a:t>
            </a:r>
            <a:r>
              <a:rPr lang="en-US" altLang="zh-CN" sz="1400" dirty="0"/>
              <a:t> Adjusting communication strategies is proven effective in enhancing personality inference performance.</a:t>
            </a:r>
          </a:p>
          <a:p>
            <a:r>
              <a:rPr lang="en-US" altLang="zh-CN" sz="1400" b="1" dirty="0"/>
              <a:t>Next Step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Investigation:</a:t>
            </a:r>
            <a:r>
              <a:rPr lang="en-US" altLang="zh-CN" sz="1400" dirty="0"/>
              <a:t> Analyze the causes of the Openness decline.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/>
              <a:t>Adaptive Optimization:</a:t>
            </a:r>
            <a:r>
              <a:rPr lang="en-US" altLang="zh-CN" sz="1400" dirty="0"/>
              <a:t> Implement </a:t>
            </a:r>
            <a:r>
              <a:rPr lang="en-US" altLang="zh-CN" sz="1400" b="1" dirty="0"/>
              <a:t>real-time user profiling</a:t>
            </a:r>
            <a:r>
              <a:rPr lang="en-US" altLang="zh-CN" sz="1400" dirty="0"/>
              <a:t> (Motivation/Capability) to enable </a:t>
            </a:r>
            <a:r>
              <a:rPr lang="en-US" altLang="zh-CN" sz="1400" b="1" dirty="0"/>
              <a:t>targeted trait selection</a:t>
            </a:r>
            <a:r>
              <a:rPr lang="en-US" altLang="zh-CN" sz="1400" dirty="0"/>
              <a:t> rather than random elicitation.</a:t>
            </a:r>
          </a:p>
          <a:p>
            <a:pPr>
              <a:lnSpc>
                <a:spcPct val="100000"/>
              </a:lnSpc>
            </a:pPr>
            <a:endParaRPr lang="en-US" altLang="zh-CN" sz="1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E3BBF4-3D53-BF0F-7F15-9AC91128E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14958"/>
              </p:ext>
            </p:extLst>
          </p:nvPr>
        </p:nvGraphicFramePr>
        <p:xfrm>
          <a:off x="1295400" y="1380014"/>
          <a:ext cx="8763000" cy="24536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96440">
                  <a:extLst>
                    <a:ext uri="{9D8B030D-6E8A-4147-A177-3AD203B41FA5}">
                      <a16:colId xmlns:a16="http://schemas.microsoft.com/office/drawing/2014/main" val="108176297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37847197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121361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944607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34726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Personality Trait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Acc.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Acc.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F1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F1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628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Openness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57150" marR="571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</a:t>
                      </a:r>
                    </a:p>
                  </a:txBody>
                  <a:tcPr marL="57150" marR="571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10693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Conscientiousness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09245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Extraversion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716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Agreeableness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35228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Neuroticism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9388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  <a:endParaRPr lang="zh-CN" altLang="en-US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</a:t>
                      </a:r>
                      <a:endParaRPr lang="zh-CN" altLang="en-US" b="1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zh-CN" altLang="en-US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zh-CN" altLang="en-US" b="1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1390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80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40417" y="2871583"/>
            <a:ext cx="86306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6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Y3ZjdiZTg3ODhmODI1OTFlN2EyOGFkZjQ5ZjAwMGIifQ=="/>
</p:tagLst>
</file>

<file path=ppt/theme/theme1.xml><?xml version="1.0" encoding="utf-8"?>
<a:theme xmlns:a="http://schemas.openxmlformats.org/drawingml/2006/main" name="Office 主题​​">
  <a:themeElements>
    <a:clrScheme name="自定义 172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4141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15605</TotalTime>
  <Words>887</Words>
  <Application>Microsoft Office PowerPoint</Application>
  <PresentationFormat>宽屏</PresentationFormat>
  <Paragraphs>147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Inter</vt:lpstr>
      <vt:lpstr>Inter SemiBold</vt:lpstr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文煊 王</cp:lastModifiedBy>
  <cp:revision>191</cp:revision>
  <dcterms:created xsi:type="dcterms:W3CDTF">2023-07-25T11:43:00Z</dcterms:created>
  <dcterms:modified xsi:type="dcterms:W3CDTF">2026-04-09T12:39:42Z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81803B39A0A34239B34D3CE0D18712F4_13</vt:lpwstr>
  </property>
  <property fmtid="{D5CDD505-2E9C-101B-9397-08002B2CF9AE}" pid="3" name="KSOProductBuildVer">
    <vt:lpwstr>2052-12.1.0.19770</vt:lpwstr>
  </property>
</Properties>
</file>